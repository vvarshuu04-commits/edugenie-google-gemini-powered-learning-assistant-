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EDUGENIE &amp; LEGALEASE</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AI-Powered Solutions for Education &amp; Legal Awareness</a:t>
            </a:r>
          </a:p>
          <a:p>
            <a:pPr>
              <a:spcAft>
                <a:spcPts val="800"/>
              </a:spcAft>
              <a:defRPr sz="2000">
                <a:solidFill>
                  <a:srgbClr val="232D37"/>
                </a:solidFill>
              </a:defRPr>
            </a:pPr>
            <a:r>
              <a:t>Naan Mudhalvan Project</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PROJECT OVERVIEW</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This project presents two practical AI applications:</a:t>
            </a:r>
          </a:p>
          <a:p>
            <a:pPr>
              <a:spcAft>
                <a:spcPts val="800"/>
              </a:spcAft>
              <a:defRPr sz="2000">
                <a:solidFill>
                  <a:srgbClr val="232D37"/>
                </a:solidFill>
              </a:defRPr>
            </a:pPr>
          </a:p>
          <a:p>
            <a:pPr>
              <a:spcAft>
                <a:spcPts val="800"/>
              </a:spcAft>
              <a:defRPr sz="2000">
                <a:solidFill>
                  <a:srgbClr val="232D37"/>
                </a:solidFill>
              </a:defRPr>
            </a:pPr>
            <a:r>
              <a:t>• EduGenie – Google Gemini Powered Learning Assistant</a:t>
            </a:r>
          </a:p>
          <a:p>
            <a:pPr>
              <a:spcAft>
                <a:spcPts val="800"/>
              </a:spcAft>
              <a:defRPr sz="2000">
                <a:solidFill>
                  <a:srgbClr val="232D37"/>
                </a:solidFill>
              </a:defRPr>
            </a:pPr>
            <a:r>
              <a:t>• LegalEase – AI-Powered Legal Information Assistant</a:t>
            </a:r>
          </a:p>
          <a:p>
            <a:pPr>
              <a:spcAft>
                <a:spcPts val="800"/>
              </a:spcAft>
              <a:defRPr sz="2000">
                <a:solidFill>
                  <a:srgbClr val="232D37"/>
                </a:solidFill>
              </a:defRPr>
            </a:pPr>
          </a:p>
          <a:p>
            <a:pPr>
              <a:spcAft>
                <a:spcPts val="800"/>
              </a:spcAft>
              <a:defRPr sz="2000">
                <a:solidFill>
                  <a:srgbClr val="232D37"/>
                </a:solidFill>
              </a:defRPr>
            </a:pPr>
            <a:r>
              <a:t>Both systems demonstrate how Generative AI can simplify information, improve accessibility, and support users in real-world situations.</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PROBLEM STATEMENT</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 Students often struggle to understand complex academic concepts.</a:t>
            </a:r>
          </a:p>
          <a:p>
            <a:pPr>
              <a:spcAft>
                <a:spcPts val="800"/>
              </a:spcAft>
              <a:defRPr sz="2000">
                <a:solidFill>
                  <a:srgbClr val="232D37"/>
                </a:solidFill>
              </a:defRPr>
            </a:pPr>
            <a:r>
              <a:t>• Learning resources may not always be personalized.</a:t>
            </a:r>
          </a:p>
          <a:p>
            <a:pPr>
              <a:spcAft>
                <a:spcPts val="800"/>
              </a:spcAft>
              <a:defRPr sz="2000">
                <a:solidFill>
                  <a:srgbClr val="232D37"/>
                </a:solidFill>
              </a:defRPr>
            </a:pPr>
            <a:r>
              <a:t>• Legal terminology and documents can be difficult for ordinary users.</a:t>
            </a:r>
          </a:p>
          <a:p>
            <a:pPr>
              <a:spcAft>
                <a:spcPts val="800"/>
              </a:spcAft>
              <a:defRPr sz="2000">
                <a:solidFill>
                  <a:srgbClr val="232D37"/>
                </a:solidFill>
              </a:defRPr>
            </a:pPr>
            <a:r>
              <a:t>• Users need information presented in simple, understandable language.</a:t>
            </a:r>
          </a:p>
          <a:p>
            <a:pPr>
              <a:spcAft>
                <a:spcPts val="800"/>
              </a:spcAft>
              <a:defRPr sz="2000">
                <a:solidFill>
                  <a:srgbClr val="232D37"/>
                </a:solidFill>
              </a:defRPr>
            </a:pPr>
            <a:r>
              <a:t>• AI can help bridge these accessibility and understanding gaps.</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PROJECT OBJECTIVES</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 Develop practical AI-based solutions using Generative AI.</a:t>
            </a:r>
          </a:p>
          <a:p>
            <a:pPr>
              <a:spcAft>
                <a:spcPts val="800"/>
              </a:spcAft>
              <a:defRPr sz="2000">
                <a:solidFill>
                  <a:srgbClr val="232D37"/>
                </a:solidFill>
              </a:defRPr>
            </a:pPr>
            <a:r>
              <a:t>• Provide simple and understandable responses.</a:t>
            </a:r>
          </a:p>
          <a:p>
            <a:pPr>
              <a:spcAft>
                <a:spcPts val="800"/>
              </a:spcAft>
              <a:defRPr sz="2000">
                <a:solidFill>
                  <a:srgbClr val="232D37"/>
                </a:solidFill>
              </a:defRPr>
            </a:pPr>
            <a:r>
              <a:t>• Support personalized learning through EduGenie.</a:t>
            </a:r>
          </a:p>
          <a:p>
            <a:pPr>
              <a:spcAft>
                <a:spcPts val="800"/>
              </a:spcAft>
              <a:defRPr sz="2000">
                <a:solidFill>
                  <a:srgbClr val="232D37"/>
                </a:solidFill>
              </a:defRPr>
            </a:pPr>
            <a:r>
              <a:t>• Improve basic legal awareness through LegalEase.</a:t>
            </a:r>
          </a:p>
          <a:p>
            <a:pPr>
              <a:spcAft>
                <a:spcPts val="800"/>
              </a:spcAft>
              <a:defRPr sz="2000">
                <a:solidFill>
                  <a:srgbClr val="232D37"/>
                </a:solidFill>
              </a:defRPr>
            </a:pPr>
            <a:r>
              <a:t>• Demonstrate responsible and user-friendly applications of AI.</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EDUGENIE – INTRODUCTION</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EduGenie is an AI-powered learning assistant that uses Google Gemini to help students learn more effectively.</a:t>
            </a:r>
          </a:p>
          <a:p>
            <a:pPr>
              <a:spcAft>
                <a:spcPts val="800"/>
              </a:spcAft>
              <a:defRPr sz="2000">
                <a:solidFill>
                  <a:srgbClr val="232D37"/>
                </a:solidFill>
              </a:defRPr>
            </a:pPr>
          </a:p>
          <a:p>
            <a:pPr>
              <a:spcAft>
                <a:spcPts val="800"/>
              </a:spcAft>
              <a:defRPr sz="2000">
                <a:solidFill>
                  <a:srgbClr val="232D37"/>
                </a:solidFill>
              </a:defRPr>
            </a:pPr>
            <a:r>
              <a:t>It can understand natural-language questions and provide explanations, summaries, examples, notes, and revision support. The system acts as a virtual study companion that students can interact with whenever they need academic assistance.</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EDUGENIE – KEY FEATURES</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 AI-powered question answering</a:t>
            </a:r>
          </a:p>
          <a:p>
            <a:pPr>
              <a:spcAft>
                <a:spcPts val="800"/>
              </a:spcAft>
              <a:defRPr sz="2000">
                <a:solidFill>
                  <a:srgbClr val="232D37"/>
                </a:solidFill>
              </a:defRPr>
            </a:pPr>
            <a:r>
              <a:t>• Simple explanations of difficult concepts</a:t>
            </a:r>
          </a:p>
          <a:p>
            <a:pPr>
              <a:spcAft>
                <a:spcPts val="800"/>
              </a:spcAft>
              <a:defRPr sz="2000">
                <a:solidFill>
                  <a:srgbClr val="232D37"/>
                </a:solidFill>
              </a:defRPr>
            </a:pPr>
            <a:r>
              <a:t>• Study-note generation</a:t>
            </a:r>
          </a:p>
          <a:p>
            <a:pPr>
              <a:spcAft>
                <a:spcPts val="800"/>
              </a:spcAft>
              <a:defRPr sz="2000">
                <a:solidFill>
                  <a:srgbClr val="232D37"/>
                </a:solidFill>
              </a:defRPr>
            </a:pPr>
            <a:r>
              <a:t>• Topic summarization</a:t>
            </a:r>
          </a:p>
          <a:p>
            <a:pPr>
              <a:spcAft>
                <a:spcPts val="800"/>
              </a:spcAft>
              <a:defRPr sz="2000">
                <a:solidFill>
                  <a:srgbClr val="232D37"/>
                </a:solidFill>
              </a:defRPr>
            </a:pPr>
            <a:r>
              <a:t>• Examples and step-by-step explanations</a:t>
            </a:r>
          </a:p>
          <a:p>
            <a:pPr>
              <a:spcAft>
                <a:spcPts val="800"/>
              </a:spcAft>
              <a:defRPr sz="2000">
                <a:solidFill>
                  <a:srgbClr val="232D37"/>
                </a:solidFill>
              </a:defRPr>
            </a:pPr>
            <a:r>
              <a:t>• Revision and practice-question support</a:t>
            </a:r>
          </a:p>
          <a:p>
            <a:pPr>
              <a:spcAft>
                <a:spcPts val="800"/>
              </a:spcAft>
              <a:defRPr sz="2000">
                <a:solidFill>
                  <a:srgbClr val="232D37"/>
                </a:solidFill>
              </a:defRPr>
            </a:pPr>
            <a:r>
              <a:t>• Personalized learning assistance</a:t>
            </a:r>
          </a:p>
          <a:p>
            <a:pPr>
              <a:spcAft>
                <a:spcPts val="800"/>
              </a:spcAft>
              <a:defRPr sz="2000">
                <a:solidFill>
                  <a:srgbClr val="232D37"/>
                </a:solidFill>
              </a:defRPr>
            </a:pPr>
            <a:r>
              <a:t>• Natural-language interaction</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EDUGENIE – WORKFLOW</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1. Student enters a question or learning request.</a:t>
            </a:r>
          </a:p>
          <a:p>
            <a:pPr>
              <a:spcAft>
                <a:spcPts val="800"/>
              </a:spcAft>
              <a:defRPr sz="2000">
                <a:solidFill>
                  <a:srgbClr val="232D37"/>
                </a:solidFill>
              </a:defRPr>
            </a:pPr>
            <a:r>
              <a:t>2. The input is sent to the AI system.</a:t>
            </a:r>
          </a:p>
          <a:p>
            <a:pPr>
              <a:spcAft>
                <a:spcPts val="800"/>
              </a:spcAft>
              <a:defRPr sz="2000">
                <a:solidFill>
                  <a:srgbClr val="232D37"/>
                </a:solidFill>
              </a:defRPr>
            </a:pPr>
            <a:r>
              <a:t>3. Google Gemini processes the request using the provided context.</a:t>
            </a:r>
          </a:p>
          <a:p>
            <a:pPr>
              <a:spcAft>
                <a:spcPts val="800"/>
              </a:spcAft>
              <a:defRPr sz="2000">
                <a:solidFill>
                  <a:srgbClr val="232D37"/>
                </a:solidFill>
              </a:defRPr>
            </a:pPr>
            <a:r>
              <a:t>4. The system generates a relevant response.</a:t>
            </a:r>
          </a:p>
          <a:p>
            <a:pPr>
              <a:spcAft>
                <a:spcPts val="800"/>
              </a:spcAft>
              <a:defRPr sz="2000">
                <a:solidFill>
                  <a:srgbClr val="232D37"/>
                </a:solidFill>
              </a:defRPr>
            </a:pPr>
            <a:r>
              <a:t>5. The student reads, reviews, and uses the explanation for learning.</a:t>
            </a:r>
          </a:p>
          <a:p>
            <a:pPr>
              <a:spcAft>
                <a:spcPts val="800"/>
              </a:spcAft>
              <a:defRPr sz="2000">
                <a:solidFill>
                  <a:srgbClr val="232D37"/>
                </a:solidFill>
              </a:defRPr>
            </a:pPr>
          </a:p>
          <a:p>
            <a:pPr>
              <a:spcAft>
                <a:spcPts val="800"/>
              </a:spcAft>
              <a:defRPr sz="2000">
                <a:solidFill>
                  <a:srgbClr val="232D37"/>
                </a:solidFill>
              </a:defRPr>
            </a:pPr>
            <a:r>
              <a:t>Input → Gemini AI → Processing → Personalized Response → Learning</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EDUGENIE – TECHNOLOGIES</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 Generative AI</a:t>
            </a:r>
          </a:p>
          <a:p>
            <a:pPr>
              <a:spcAft>
                <a:spcPts val="800"/>
              </a:spcAft>
              <a:defRPr sz="2000">
                <a:solidFill>
                  <a:srgbClr val="232D37"/>
                </a:solidFill>
              </a:defRPr>
            </a:pPr>
            <a:r>
              <a:t>• Google Gemini</a:t>
            </a:r>
          </a:p>
          <a:p>
            <a:pPr>
              <a:spcAft>
                <a:spcPts val="800"/>
              </a:spcAft>
              <a:defRPr sz="2000">
                <a:solidFill>
                  <a:srgbClr val="232D37"/>
                </a:solidFill>
              </a:defRPr>
            </a:pPr>
            <a:r>
              <a:t>• Natural Language Processing (NLP)</a:t>
            </a:r>
          </a:p>
          <a:p>
            <a:pPr>
              <a:spcAft>
                <a:spcPts val="800"/>
              </a:spcAft>
              <a:defRPr sz="2000">
                <a:solidFill>
                  <a:srgbClr val="232D37"/>
                </a:solidFill>
              </a:defRPr>
            </a:pPr>
            <a:r>
              <a:t>• Prompt Engineering</a:t>
            </a:r>
          </a:p>
          <a:p>
            <a:pPr>
              <a:spcAft>
                <a:spcPts val="800"/>
              </a:spcAft>
              <a:defRPr sz="2000">
                <a:solidFill>
                  <a:srgbClr val="232D37"/>
                </a:solidFill>
              </a:defRPr>
            </a:pPr>
            <a:r>
              <a:t>• Web/Application Interface</a:t>
            </a:r>
          </a:p>
          <a:p>
            <a:pPr>
              <a:spcAft>
                <a:spcPts val="800"/>
              </a:spcAft>
              <a:defRPr sz="2000">
                <a:solidFill>
                  <a:srgbClr val="232D37"/>
                </a:solidFill>
              </a:defRPr>
            </a:pPr>
            <a:r>
              <a:t>• Cloud-based AI services</a:t>
            </a:r>
          </a:p>
          <a:p>
            <a:pPr>
              <a:spcAft>
                <a:spcPts val="800"/>
              </a:spcAft>
              <a:defRPr sz="2000">
                <a:solidFill>
                  <a:srgbClr val="232D37"/>
                </a:solidFill>
              </a:defRPr>
            </a:pPr>
          </a:p>
          <a:p>
            <a:pPr>
              <a:spcAft>
                <a:spcPts val="800"/>
              </a:spcAft>
              <a:defRPr sz="2000">
                <a:solidFill>
                  <a:srgbClr val="232D37"/>
                </a:solidFill>
              </a:defRPr>
            </a:pPr>
            <a:r>
              <a:t>These technologies enable EduGenie to understand user requests and generate useful educational content.</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EDUGENIE – BENEFITS</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 Makes learning more interactive</a:t>
            </a:r>
          </a:p>
          <a:p>
            <a:pPr>
              <a:spcAft>
                <a:spcPts val="800"/>
              </a:spcAft>
              <a:defRPr sz="2000">
                <a:solidFill>
                  <a:srgbClr val="232D37"/>
                </a:solidFill>
              </a:defRPr>
            </a:pPr>
            <a:r>
              <a:t>• Saves time while preparing notes</a:t>
            </a:r>
          </a:p>
          <a:p>
            <a:pPr>
              <a:spcAft>
                <a:spcPts val="800"/>
              </a:spcAft>
              <a:defRPr sz="2000">
                <a:solidFill>
                  <a:srgbClr val="232D37"/>
                </a:solidFill>
              </a:defRPr>
            </a:pPr>
            <a:r>
              <a:t>• Supports self-learning</a:t>
            </a:r>
          </a:p>
          <a:p>
            <a:pPr>
              <a:spcAft>
                <a:spcPts val="800"/>
              </a:spcAft>
              <a:defRPr sz="2000">
                <a:solidFill>
                  <a:srgbClr val="232D37"/>
                </a:solidFill>
              </a:defRPr>
            </a:pPr>
            <a:r>
              <a:t>• Explains topics in simpler language</a:t>
            </a:r>
          </a:p>
          <a:p>
            <a:pPr>
              <a:spcAft>
                <a:spcPts val="800"/>
              </a:spcAft>
              <a:defRPr sz="2000">
                <a:solidFill>
                  <a:srgbClr val="232D37"/>
                </a:solidFill>
              </a:defRPr>
            </a:pPr>
            <a:r>
              <a:t>• Provides assistance anytime</a:t>
            </a:r>
          </a:p>
          <a:p>
            <a:pPr>
              <a:spcAft>
                <a:spcPts val="800"/>
              </a:spcAft>
              <a:defRPr sz="2000">
                <a:solidFill>
                  <a:srgbClr val="232D37"/>
                </a:solidFill>
              </a:defRPr>
            </a:pPr>
            <a:r>
              <a:t>• Helps students revise important concepts</a:t>
            </a:r>
          </a:p>
          <a:p>
            <a:pPr>
              <a:spcAft>
                <a:spcPts val="800"/>
              </a:spcAft>
              <a:defRPr sz="2000">
                <a:solidFill>
                  <a:srgbClr val="232D37"/>
                </a:solidFill>
              </a:defRPr>
            </a:pPr>
            <a:r>
              <a:t>• Encourages curiosity and independent learning</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LEGALEASE – INTRODUCTION</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LegalEase is an AI-powered legal information assistant designed to make basic legal concepts easier to understand.</a:t>
            </a:r>
          </a:p>
          <a:p>
            <a:pPr>
              <a:spcAft>
                <a:spcPts val="800"/>
              </a:spcAft>
              <a:defRPr sz="2000">
                <a:solidFill>
                  <a:srgbClr val="232D37"/>
                </a:solidFill>
              </a:defRPr>
            </a:pPr>
          </a:p>
          <a:p>
            <a:pPr>
              <a:spcAft>
                <a:spcPts val="800"/>
              </a:spcAft>
              <a:defRPr sz="2000">
                <a:solidFill>
                  <a:srgbClr val="232D37"/>
                </a:solidFill>
              </a:defRPr>
            </a:pPr>
            <a:r>
              <a:t>It can simplify legal terminology, summarize provided legal information, explain general procedures, and help users identify relevant topics. LegalEase is intended for educational and informational support, not as a replacement for qualified legal professionals.</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LEGALEASE – KEY FEATURES</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 Simplification of legal terminology</a:t>
            </a:r>
          </a:p>
          <a:p>
            <a:pPr>
              <a:spcAft>
                <a:spcPts val="800"/>
              </a:spcAft>
              <a:defRPr sz="2000">
                <a:solidFill>
                  <a:srgbClr val="232D37"/>
                </a:solidFill>
              </a:defRPr>
            </a:pPr>
            <a:r>
              <a:t>• General legal-information assistance</a:t>
            </a:r>
          </a:p>
          <a:p>
            <a:pPr>
              <a:spcAft>
                <a:spcPts val="800"/>
              </a:spcAft>
              <a:defRPr sz="2000">
                <a:solidFill>
                  <a:srgbClr val="232D37"/>
                </a:solidFill>
              </a:defRPr>
            </a:pPr>
            <a:r>
              <a:t>• Document and text summarization</a:t>
            </a:r>
          </a:p>
          <a:p>
            <a:pPr>
              <a:spcAft>
                <a:spcPts val="800"/>
              </a:spcAft>
              <a:defRPr sz="2000">
                <a:solidFill>
                  <a:srgbClr val="232D37"/>
                </a:solidFill>
              </a:defRPr>
            </a:pPr>
            <a:r>
              <a:t>• Topic identification</a:t>
            </a:r>
          </a:p>
          <a:p>
            <a:pPr>
              <a:spcAft>
                <a:spcPts val="800"/>
              </a:spcAft>
              <a:defRPr sz="2000">
                <a:solidFill>
                  <a:srgbClr val="232D37"/>
                </a:solidFill>
              </a:defRPr>
            </a:pPr>
            <a:r>
              <a:t>• Easy-to-understand explanations</a:t>
            </a:r>
          </a:p>
          <a:p>
            <a:pPr>
              <a:spcAft>
                <a:spcPts val="800"/>
              </a:spcAft>
              <a:defRPr sz="2000">
                <a:solidFill>
                  <a:srgbClr val="232D37"/>
                </a:solidFill>
              </a:defRPr>
            </a:pPr>
            <a:r>
              <a:t>• Natural-language interaction</a:t>
            </a:r>
          </a:p>
          <a:p>
            <a:pPr>
              <a:spcAft>
                <a:spcPts val="800"/>
              </a:spcAft>
              <a:defRPr sz="2000">
                <a:solidFill>
                  <a:srgbClr val="232D37"/>
                </a:solidFill>
              </a:defRPr>
            </a:pPr>
            <a:r>
              <a:t>• Basic legal awareness support</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LEGALEASE – WORKFLOW</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1. User enters a legal question or information.</a:t>
            </a:r>
          </a:p>
          <a:p>
            <a:pPr>
              <a:spcAft>
                <a:spcPts val="800"/>
              </a:spcAft>
              <a:defRPr sz="2000">
                <a:solidFill>
                  <a:srgbClr val="232D37"/>
                </a:solidFill>
              </a:defRPr>
            </a:pPr>
            <a:r>
              <a:t>2. The AI analyzes the request.</a:t>
            </a:r>
          </a:p>
          <a:p>
            <a:pPr>
              <a:spcAft>
                <a:spcPts val="800"/>
              </a:spcAft>
              <a:defRPr sz="2000">
                <a:solidFill>
                  <a:srgbClr val="232D37"/>
                </a:solidFill>
              </a:defRPr>
            </a:pPr>
            <a:r>
              <a:t>3. Relevant legal concepts are identified.</a:t>
            </a:r>
          </a:p>
          <a:p>
            <a:pPr>
              <a:spcAft>
                <a:spcPts val="800"/>
              </a:spcAft>
              <a:defRPr sz="2000">
                <a:solidFill>
                  <a:srgbClr val="232D37"/>
                </a:solidFill>
              </a:defRPr>
            </a:pPr>
            <a:r>
              <a:t>4. The information is converted into simpler language.</a:t>
            </a:r>
          </a:p>
          <a:p>
            <a:pPr>
              <a:spcAft>
                <a:spcPts val="800"/>
              </a:spcAft>
              <a:defRPr sz="2000">
                <a:solidFill>
                  <a:srgbClr val="232D37"/>
                </a:solidFill>
              </a:defRPr>
            </a:pPr>
            <a:r>
              <a:t>5. The response is presented to the user.</a:t>
            </a:r>
          </a:p>
          <a:p>
            <a:pPr>
              <a:spcAft>
                <a:spcPts val="800"/>
              </a:spcAft>
              <a:defRPr sz="2000">
                <a:solidFill>
                  <a:srgbClr val="232D37"/>
                </a:solidFill>
              </a:defRPr>
            </a:pPr>
          </a:p>
          <a:p>
            <a:pPr>
              <a:spcAft>
                <a:spcPts val="800"/>
              </a:spcAft>
              <a:defRPr sz="2000">
                <a:solidFill>
                  <a:srgbClr val="232D37"/>
                </a:solidFill>
              </a:defRPr>
            </a:pPr>
            <a:r>
              <a:t>User Input → AI Processing → Legal Information → Simplified Explanation</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LEGALEASE – TECHNOLOGIES</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 Artificial Intelligence</a:t>
            </a:r>
          </a:p>
          <a:p>
            <a:pPr>
              <a:spcAft>
                <a:spcPts val="800"/>
              </a:spcAft>
              <a:defRPr sz="2000">
                <a:solidFill>
                  <a:srgbClr val="232D37"/>
                </a:solidFill>
              </a:defRPr>
            </a:pPr>
            <a:r>
              <a:t>• Generative AI / Large Language Models</a:t>
            </a:r>
          </a:p>
          <a:p>
            <a:pPr>
              <a:spcAft>
                <a:spcPts val="800"/>
              </a:spcAft>
              <a:defRPr sz="2000">
                <a:solidFill>
                  <a:srgbClr val="232D37"/>
                </a:solidFill>
              </a:defRPr>
            </a:pPr>
            <a:r>
              <a:t>• Natural Language Processing</a:t>
            </a:r>
          </a:p>
          <a:p>
            <a:pPr>
              <a:spcAft>
                <a:spcPts val="800"/>
              </a:spcAft>
              <a:defRPr sz="2000">
                <a:solidFill>
                  <a:srgbClr val="232D37"/>
                </a:solidFill>
              </a:defRPr>
            </a:pPr>
            <a:r>
              <a:t>• Prompt Engineering</a:t>
            </a:r>
          </a:p>
          <a:p>
            <a:pPr>
              <a:spcAft>
                <a:spcPts val="800"/>
              </a:spcAft>
              <a:defRPr sz="2000">
                <a:solidFill>
                  <a:srgbClr val="232D37"/>
                </a:solidFill>
              </a:defRPr>
            </a:pPr>
            <a:r>
              <a:t>• Text Summarization</a:t>
            </a:r>
          </a:p>
          <a:p>
            <a:pPr>
              <a:spcAft>
                <a:spcPts val="800"/>
              </a:spcAft>
              <a:defRPr sz="2000">
                <a:solidFill>
                  <a:srgbClr val="232D37"/>
                </a:solidFill>
              </a:defRPr>
            </a:pPr>
            <a:r>
              <a:t>• User Interface / Application Layer</a:t>
            </a:r>
          </a:p>
          <a:p>
            <a:pPr>
              <a:spcAft>
                <a:spcPts val="800"/>
              </a:spcAft>
              <a:defRPr sz="2000">
                <a:solidFill>
                  <a:srgbClr val="232D37"/>
                </a:solidFill>
              </a:defRPr>
            </a:pPr>
          </a:p>
          <a:p>
            <a:pPr>
              <a:spcAft>
                <a:spcPts val="800"/>
              </a:spcAft>
              <a:defRPr sz="2000">
                <a:solidFill>
                  <a:srgbClr val="232D37"/>
                </a:solidFill>
              </a:defRPr>
            </a:pPr>
            <a:r>
              <a:t>The system focuses on making complex information easier to understand.</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LEGALEASE – BENEFITS</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 Improves basic legal awareness</a:t>
            </a:r>
          </a:p>
          <a:p>
            <a:pPr>
              <a:spcAft>
                <a:spcPts val="800"/>
              </a:spcAft>
              <a:defRPr sz="2000">
                <a:solidFill>
                  <a:srgbClr val="232D37"/>
                </a:solidFill>
              </a:defRPr>
            </a:pPr>
            <a:r>
              <a:t>• Reduces difficulty in understanding legal terminology</a:t>
            </a:r>
          </a:p>
          <a:p>
            <a:pPr>
              <a:spcAft>
                <a:spcPts val="800"/>
              </a:spcAft>
              <a:defRPr sz="2000">
                <a:solidFill>
                  <a:srgbClr val="232D37"/>
                </a:solidFill>
              </a:defRPr>
            </a:pPr>
            <a:r>
              <a:t>• Provides quick informational assistance</a:t>
            </a:r>
          </a:p>
          <a:p>
            <a:pPr>
              <a:spcAft>
                <a:spcPts val="800"/>
              </a:spcAft>
              <a:defRPr sz="2000">
                <a:solidFill>
                  <a:srgbClr val="232D37"/>
                </a:solidFill>
              </a:defRPr>
            </a:pPr>
            <a:r>
              <a:t>• Helps users identify topics for further research</a:t>
            </a:r>
          </a:p>
          <a:p>
            <a:pPr>
              <a:spcAft>
                <a:spcPts val="800"/>
              </a:spcAft>
              <a:defRPr sz="2000">
                <a:solidFill>
                  <a:srgbClr val="232D37"/>
                </a:solidFill>
              </a:defRPr>
            </a:pPr>
            <a:r>
              <a:t>• Makes information more accessible</a:t>
            </a:r>
          </a:p>
          <a:p>
            <a:pPr>
              <a:spcAft>
                <a:spcPts val="800"/>
              </a:spcAft>
              <a:defRPr sz="2000">
                <a:solidFill>
                  <a:srgbClr val="232D37"/>
                </a:solidFill>
              </a:defRPr>
            </a:pPr>
            <a:r>
              <a:t>• Supports educational use of AI</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SYSTEM ARCHITECTURE</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USER</a:t>
            </a:r>
          </a:p>
          <a:p>
            <a:pPr>
              <a:spcAft>
                <a:spcPts val="800"/>
              </a:spcAft>
              <a:defRPr sz="2000">
                <a:solidFill>
                  <a:srgbClr val="232D37"/>
                </a:solidFill>
              </a:defRPr>
            </a:pPr>
            <a:r>
              <a:t>   ↓</a:t>
            </a:r>
          </a:p>
          <a:p>
            <a:pPr>
              <a:spcAft>
                <a:spcPts val="800"/>
              </a:spcAft>
              <a:defRPr sz="2000">
                <a:solidFill>
                  <a:srgbClr val="232D37"/>
                </a:solidFill>
              </a:defRPr>
            </a:pPr>
            <a:r>
              <a:t>USER INTERFACE</a:t>
            </a:r>
          </a:p>
          <a:p>
            <a:pPr>
              <a:spcAft>
                <a:spcPts val="800"/>
              </a:spcAft>
              <a:defRPr sz="2000">
                <a:solidFill>
                  <a:srgbClr val="232D37"/>
                </a:solidFill>
              </a:defRPr>
            </a:pPr>
            <a:r>
              <a:t>   ↓</a:t>
            </a:r>
          </a:p>
          <a:p>
            <a:pPr>
              <a:spcAft>
                <a:spcPts val="800"/>
              </a:spcAft>
              <a:defRPr sz="2000">
                <a:solidFill>
                  <a:srgbClr val="232D37"/>
                </a:solidFill>
              </a:defRPr>
            </a:pPr>
            <a:r>
              <a:t>INPUT / PROMPT PROCESSING</a:t>
            </a:r>
          </a:p>
          <a:p>
            <a:pPr>
              <a:spcAft>
                <a:spcPts val="800"/>
              </a:spcAft>
              <a:defRPr sz="2000">
                <a:solidFill>
                  <a:srgbClr val="232D37"/>
                </a:solidFill>
              </a:defRPr>
            </a:pPr>
            <a:r>
              <a:t>   ↓</a:t>
            </a:r>
          </a:p>
          <a:p>
            <a:pPr>
              <a:spcAft>
                <a:spcPts val="800"/>
              </a:spcAft>
              <a:defRPr sz="2000">
                <a:solidFill>
                  <a:srgbClr val="232D37"/>
                </a:solidFill>
              </a:defRPr>
            </a:pPr>
            <a:r>
              <a:t>GENERATIVE AI MODEL</a:t>
            </a:r>
          </a:p>
          <a:p>
            <a:pPr>
              <a:spcAft>
                <a:spcPts val="800"/>
              </a:spcAft>
              <a:defRPr sz="2000">
                <a:solidFill>
                  <a:srgbClr val="232D37"/>
                </a:solidFill>
              </a:defRPr>
            </a:pPr>
            <a:r>
              <a:t>   ↓</a:t>
            </a:r>
          </a:p>
          <a:p>
            <a:pPr>
              <a:spcAft>
                <a:spcPts val="800"/>
              </a:spcAft>
              <a:defRPr sz="2000">
                <a:solidFill>
                  <a:srgbClr val="232D37"/>
                </a:solidFill>
              </a:defRPr>
            </a:pPr>
            <a:r>
              <a:t>CONTEXT &amp; RESPONSE GENERATION</a:t>
            </a:r>
          </a:p>
          <a:p>
            <a:pPr>
              <a:spcAft>
                <a:spcPts val="800"/>
              </a:spcAft>
              <a:defRPr sz="2000">
                <a:solidFill>
                  <a:srgbClr val="232D37"/>
                </a:solidFill>
              </a:defRPr>
            </a:pPr>
            <a:r>
              <a:t>   ↓</a:t>
            </a:r>
          </a:p>
          <a:p>
            <a:pPr>
              <a:spcAft>
                <a:spcPts val="800"/>
              </a:spcAft>
              <a:defRPr sz="2000">
                <a:solidFill>
                  <a:srgbClr val="232D37"/>
                </a:solidFill>
              </a:defRPr>
            </a:pPr>
            <a:r>
              <a:t>OUTPUT / EXPLANATION</a:t>
            </a:r>
          </a:p>
          <a:p>
            <a:pPr>
              <a:spcAft>
                <a:spcPts val="800"/>
              </a:spcAft>
              <a:defRPr sz="2000">
                <a:solidFill>
                  <a:srgbClr val="232D37"/>
                </a:solidFill>
              </a:defRPr>
            </a:pPr>
            <a:r>
              <a:t>   ↓</a:t>
            </a:r>
          </a:p>
          <a:p>
            <a:pPr>
              <a:spcAft>
                <a:spcPts val="800"/>
              </a:spcAft>
              <a:defRPr sz="2000">
                <a:solidFill>
                  <a:srgbClr val="232D37"/>
                </a:solidFill>
              </a:defRPr>
            </a:pPr>
            <a:r>
              <a:t>USER</a:t>
            </a:r>
          </a:p>
          <a:p>
            <a:pPr>
              <a:spcAft>
                <a:spcPts val="800"/>
              </a:spcAft>
              <a:defRPr sz="2000">
                <a:solidFill>
                  <a:srgbClr val="232D37"/>
                </a:solidFill>
              </a:defRPr>
            </a:pPr>
          </a:p>
          <a:p>
            <a:pPr>
              <a:spcAft>
                <a:spcPts val="800"/>
              </a:spcAft>
              <a:defRPr sz="2000">
                <a:solidFill>
                  <a:srgbClr val="232D37"/>
                </a:solidFill>
              </a:defRPr>
            </a:pPr>
            <a:r>
              <a:t>EduGenie focuses on educational content, while LegalEase focuses on general legal information.</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ROLE OF PROMPT ENGINEERING</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Prompt engineering is important for obtaining useful AI responses.</a:t>
            </a:r>
          </a:p>
          <a:p>
            <a:pPr>
              <a:spcAft>
                <a:spcPts val="800"/>
              </a:spcAft>
              <a:defRPr sz="2000">
                <a:solidFill>
                  <a:srgbClr val="232D37"/>
                </a:solidFill>
              </a:defRPr>
            </a:pPr>
          </a:p>
          <a:p>
            <a:pPr>
              <a:spcAft>
                <a:spcPts val="800"/>
              </a:spcAft>
              <a:defRPr sz="2000">
                <a:solidFill>
                  <a:srgbClr val="232D37"/>
                </a:solidFill>
              </a:defRPr>
            </a:pPr>
            <a:r>
              <a:t>Examples:</a:t>
            </a:r>
          </a:p>
          <a:p>
            <a:pPr>
              <a:spcAft>
                <a:spcPts val="800"/>
              </a:spcAft>
              <a:defRPr sz="2000">
                <a:solidFill>
                  <a:srgbClr val="232D37"/>
                </a:solidFill>
              </a:defRPr>
            </a:pPr>
            <a:r>
              <a:t>• Ask the AI to explain a topic for a beginner.</a:t>
            </a:r>
          </a:p>
          <a:p>
            <a:pPr>
              <a:spcAft>
                <a:spcPts val="800"/>
              </a:spcAft>
              <a:defRPr sz="2000">
                <a:solidFill>
                  <a:srgbClr val="232D37"/>
                </a:solidFill>
              </a:defRPr>
            </a:pPr>
            <a:r>
              <a:t>• Request answers in bullet points.</a:t>
            </a:r>
          </a:p>
          <a:p>
            <a:pPr>
              <a:spcAft>
                <a:spcPts val="800"/>
              </a:spcAft>
              <a:defRPr sz="2000">
                <a:solidFill>
                  <a:srgbClr val="232D37"/>
                </a:solidFill>
              </a:defRPr>
            </a:pPr>
            <a:r>
              <a:t>• Provide relevant context before asking a question.</a:t>
            </a:r>
          </a:p>
          <a:p>
            <a:pPr>
              <a:spcAft>
                <a:spcPts val="800"/>
              </a:spcAft>
              <a:defRPr sz="2000">
                <a:solidFill>
                  <a:srgbClr val="232D37"/>
                </a:solidFill>
              </a:defRPr>
            </a:pPr>
            <a:r>
              <a:t>• Specify the desired format, length, and audience.</a:t>
            </a:r>
          </a:p>
          <a:p>
            <a:pPr>
              <a:spcAft>
                <a:spcPts val="800"/>
              </a:spcAft>
              <a:defRPr sz="2000">
                <a:solidFill>
                  <a:srgbClr val="232D37"/>
                </a:solidFill>
              </a:defRPr>
            </a:pPr>
          </a:p>
          <a:p>
            <a:pPr>
              <a:spcAft>
                <a:spcPts val="800"/>
              </a:spcAft>
              <a:defRPr sz="2000">
                <a:solidFill>
                  <a:srgbClr val="232D37"/>
                </a:solidFill>
              </a:defRPr>
            </a:pPr>
            <a:r>
              <a:t>Clear prompts help produce more focused and useful responses.</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RESPONSIBLE AI CONSIDERATIONS</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 AI-generated information should be reviewed for accuracy.</a:t>
            </a:r>
          </a:p>
          <a:p>
            <a:pPr>
              <a:spcAft>
                <a:spcPts val="800"/>
              </a:spcAft>
              <a:defRPr sz="2000">
                <a:solidFill>
                  <a:srgbClr val="232D37"/>
                </a:solidFill>
              </a:defRPr>
            </a:pPr>
            <a:r>
              <a:t>• Personal and confidential information should be protected.</a:t>
            </a:r>
          </a:p>
          <a:p>
            <a:pPr>
              <a:spcAft>
                <a:spcPts val="800"/>
              </a:spcAft>
              <a:defRPr sz="2000">
                <a:solidFill>
                  <a:srgbClr val="232D37"/>
                </a:solidFill>
              </a:defRPr>
            </a:pPr>
            <a:r>
              <a:t>• EduGenie should support learning rather than encourage blind copying.</a:t>
            </a:r>
          </a:p>
          <a:p>
            <a:pPr>
              <a:spcAft>
                <a:spcPts val="800"/>
              </a:spcAft>
              <a:defRPr sz="2000">
                <a:solidFill>
                  <a:srgbClr val="232D37"/>
                </a:solidFill>
              </a:defRPr>
            </a:pPr>
            <a:r>
              <a:t>• LegalEase should provide general information and clearly communicate its limitations.</a:t>
            </a:r>
          </a:p>
          <a:p>
            <a:pPr>
              <a:spcAft>
                <a:spcPts val="800"/>
              </a:spcAft>
              <a:defRPr sz="2000">
                <a:solidFill>
                  <a:srgbClr val="232D37"/>
                </a:solidFill>
              </a:defRPr>
            </a:pPr>
            <a:r>
              <a:t>• Important legal decisions should be discussed with qualified professionals.</a:t>
            </a:r>
          </a:p>
          <a:p>
            <a:pPr>
              <a:spcAft>
                <a:spcPts val="800"/>
              </a:spcAft>
              <a:defRPr sz="2000">
                <a:solidFill>
                  <a:srgbClr val="232D37"/>
                </a:solidFill>
              </a:defRPr>
            </a:pPr>
            <a:r>
              <a:t>• Human judgment remains essential.</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LIMITATIONS</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 AI responses may occasionally contain incorrect or incomplete information.</a:t>
            </a:r>
          </a:p>
          <a:p>
            <a:pPr>
              <a:spcAft>
                <a:spcPts val="800"/>
              </a:spcAft>
              <a:defRPr sz="2000">
                <a:solidFill>
                  <a:srgbClr val="232D37"/>
                </a:solidFill>
              </a:defRPr>
            </a:pPr>
            <a:r>
              <a:t>• Output quality depends on the quality of the prompt and context.</a:t>
            </a:r>
          </a:p>
          <a:p>
            <a:pPr>
              <a:spcAft>
                <a:spcPts val="800"/>
              </a:spcAft>
              <a:defRPr sz="2000">
                <a:solidFill>
                  <a:srgbClr val="232D37"/>
                </a:solidFill>
              </a:defRPr>
            </a:pPr>
            <a:r>
              <a:t>• AI may not understand every specialized academic or legal situation.</a:t>
            </a:r>
          </a:p>
          <a:p>
            <a:pPr>
              <a:spcAft>
                <a:spcPts val="800"/>
              </a:spcAft>
              <a:defRPr sz="2000">
                <a:solidFill>
                  <a:srgbClr val="232D37"/>
                </a:solidFill>
              </a:defRPr>
            </a:pPr>
            <a:r>
              <a:t>• Legal information can depend on jurisdiction and current law.</a:t>
            </a:r>
          </a:p>
          <a:p>
            <a:pPr>
              <a:spcAft>
                <a:spcPts val="800"/>
              </a:spcAft>
              <a:defRPr sz="2000">
                <a:solidFill>
                  <a:srgbClr val="232D37"/>
                </a:solidFill>
              </a:defRPr>
            </a:pPr>
            <a:r>
              <a:t>• Internet or service availability may affect AI-based applications.</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FUTURE ENHANCEMENTS</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 Voice-based interaction</a:t>
            </a:r>
          </a:p>
          <a:p>
            <a:pPr>
              <a:spcAft>
                <a:spcPts val="800"/>
              </a:spcAft>
              <a:defRPr sz="2000">
                <a:solidFill>
                  <a:srgbClr val="232D37"/>
                </a:solidFill>
              </a:defRPr>
            </a:pPr>
            <a:r>
              <a:t>• Multilingual support</a:t>
            </a:r>
          </a:p>
          <a:p>
            <a:pPr>
              <a:spcAft>
                <a:spcPts val="800"/>
              </a:spcAft>
              <a:defRPr sz="2000">
                <a:solidFill>
                  <a:srgbClr val="232D37"/>
                </a:solidFill>
              </a:defRPr>
            </a:pPr>
            <a:r>
              <a:t>• Personalized student learning profiles</a:t>
            </a:r>
          </a:p>
          <a:p>
            <a:pPr>
              <a:spcAft>
                <a:spcPts val="800"/>
              </a:spcAft>
              <a:defRPr sz="2000">
                <a:solidFill>
                  <a:srgbClr val="232D37"/>
                </a:solidFill>
              </a:defRPr>
            </a:pPr>
            <a:r>
              <a:t>• Quiz and assessment generation</a:t>
            </a:r>
          </a:p>
          <a:p>
            <a:pPr>
              <a:spcAft>
                <a:spcPts val="800"/>
              </a:spcAft>
              <a:defRPr sz="2000">
                <a:solidFill>
                  <a:srgbClr val="232D37"/>
                </a:solidFill>
              </a:defRPr>
            </a:pPr>
            <a:r>
              <a:t>• Document upload and analysis</a:t>
            </a:r>
          </a:p>
          <a:p>
            <a:pPr>
              <a:spcAft>
                <a:spcPts val="800"/>
              </a:spcAft>
              <a:defRPr sz="2000">
                <a:solidFill>
                  <a:srgbClr val="232D37"/>
                </a:solidFill>
              </a:defRPr>
            </a:pPr>
            <a:r>
              <a:t>• Improved citation and source verification</a:t>
            </a:r>
          </a:p>
          <a:p>
            <a:pPr>
              <a:spcAft>
                <a:spcPts val="800"/>
              </a:spcAft>
              <a:defRPr sz="2000">
                <a:solidFill>
                  <a:srgbClr val="232D37"/>
                </a:solidFill>
              </a:defRPr>
            </a:pPr>
            <a:r>
              <a:t>• Integration with educational platforms</a:t>
            </a:r>
          </a:p>
          <a:p>
            <a:pPr>
              <a:spcAft>
                <a:spcPts val="800"/>
              </a:spcAft>
              <a:defRPr sz="2000">
                <a:solidFill>
                  <a:srgbClr val="232D37"/>
                </a:solidFill>
              </a:defRPr>
            </a:pPr>
            <a:r>
              <a:t>• More advanced legal-information retrieval with reliable sources</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COMPARISON</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EDUGENIE</a:t>
            </a:r>
          </a:p>
          <a:p>
            <a:pPr>
              <a:spcAft>
                <a:spcPts val="800"/>
              </a:spcAft>
              <a:defRPr sz="2000">
                <a:solidFill>
                  <a:srgbClr val="232D37"/>
                </a:solidFill>
              </a:defRPr>
            </a:pPr>
            <a:r>
              <a:t>Purpose: Learning assistance</a:t>
            </a:r>
          </a:p>
          <a:p>
            <a:pPr>
              <a:spcAft>
                <a:spcPts val="800"/>
              </a:spcAft>
              <a:defRPr sz="2000">
                <a:solidFill>
                  <a:srgbClr val="232D37"/>
                </a:solidFill>
              </a:defRPr>
            </a:pPr>
            <a:r>
              <a:t>Main users: Students</a:t>
            </a:r>
          </a:p>
          <a:p>
            <a:pPr>
              <a:spcAft>
                <a:spcPts val="800"/>
              </a:spcAft>
              <a:defRPr sz="2000">
                <a:solidFill>
                  <a:srgbClr val="232D37"/>
                </a:solidFill>
              </a:defRPr>
            </a:pPr>
            <a:r>
              <a:t>Core focus: Education</a:t>
            </a:r>
          </a:p>
          <a:p>
            <a:pPr>
              <a:spcAft>
                <a:spcPts val="800"/>
              </a:spcAft>
              <a:defRPr sz="2000">
                <a:solidFill>
                  <a:srgbClr val="232D37"/>
                </a:solidFill>
              </a:defRPr>
            </a:pPr>
            <a:r>
              <a:t>AI use: Explanations, notes, revision</a:t>
            </a:r>
          </a:p>
          <a:p>
            <a:pPr>
              <a:spcAft>
                <a:spcPts val="800"/>
              </a:spcAft>
              <a:defRPr sz="2000">
                <a:solidFill>
                  <a:srgbClr val="232D37"/>
                </a:solidFill>
              </a:defRPr>
            </a:pPr>
          </a:p>
          <a:p>
            <a:pPr>
              <a:spcAft>
                <a:spcPts val="800"/>
              </a:spcAft>
              <a:defRPr sz="2000">
                <a:solidFill>
                  <a:srgbClr val="232D37"/>
                </a:solidFill>
              </a:defRPr>
            </a:pPr>
            <a:r>
              <a:t>LEGALEASE</a:t>
            </a:r>
          </a:p>
          <a:p>
            <a:pPr>
              <a:spcAft>
                <a:spcPts val="800"/>
              </a:spcAft>
              <a:defRPr sz="2000">
                <a:solidFill>
                  <a:srgbClr val="232D37"/>
                </a:solidFill>
              </a:defRPr>
            </a:pPr>
            <a:r>
              <a:t>Purpose: Legal information assistance</a:t>
            </a:r>
          </a:p>
          <a:p>
            <a:pPr>
              <a:spcAft>
                <a:spcPts val="800"/>
              </a:spcAft>
              <a:defRPr sz="2000">
                <a:solidFill>
                  <a:srgbClr val="232D37"/>
                </a:solidFill>
              </a:defRPr>
            </a:pPr>
            <a:r>
              <a:t>Main users: General users / learners</a:t>
            </a:r>
          </a:p>
          <a:p>
            <a:pPr>
              <a:spcAft>
                <a:spcPts val="800"/>
              </a:spcAft>
              <a:defRPr sz="2000">
                <a:solidFill>
                  <a:srgbClr val="232D37"/>
                </a:solidFill>
              </a:defRPr>
            </a:pPr>
            <a:r>
              <a:t>Core focus: Legal awareness</a:t>
            </a:r>
          </a:p>
          <a:p>
            <a:pPr>
              <a:spcAft>
                <a:spcPts val="800"/>
              </a:spcAft>
              <a:defRPr sz="2000">
                <a:solidFill>
                  <a:srgbClr val="232D37"/>
                </a:solidFill>
              </a:defRPr>
            </a:pPr>
            <a:r>
              <a:t>AI use: Simplification, summaries, general guidance</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EXPECTED OUTCOMES</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 Demonstrate practical applications of Generative AI.</a:t>
            </a:r>
          </a:p>
          <a:p>
            <a:pPr>
              <a:spcAft>
                <a:spcPts val="800"/>
              </a:spcAft>
              <a:defRPr sz="2000">
                <a:solidFill>
                  <a:srgbClr val="232D37"/>
                </a:solidFill>
              </a:defRPr>
            </a:pPr>
            <a:r>
              <a:t>• Improve access to understandable information.</a:t>
            </a:r>
          </a:p>
          <a:p>
            <a:pPr>
              <a:spcAft>
                <a:spcPts val="800"/>
              </a:spcAft>
              <a:defRPr sz="2000">
                <a:solidFill>
                  <a:srgbClr val="232D37"/>
                </a:solidFill>
              </a:defRPr>
            </a:pPr>
            <a:r>
              <a:t>• Encourage responsible use of AI.</a:t>
            </a:r>
          </a:p>
          <a:p>
            <a:pPr>
              <a:spcAft>
                <a:spcPts val="800"/>
              </a:spcAft>
              <a:defRPr sz="2000">
                <a:solidFill>
                  <a:srgbClr val="232D37"/>
                </a:solidFill>
              </a:defRPr>
            </a:pPr>
            <a:r>
              <a:t>• Support students through personalized learning assistance.</a:t>
            </a:r>
          </a:p>
          <a:p>
            <a:pPr>
              <a:spcAft>
                <a:spcPts val="800"/>
              </a:spcAft>
              <a:defRPr sz="2000">
                <a:solidFill>
                  <a:srgbClr val="232D37"/>
                </a:solidFill>
              </a:defRPr>
            </a:pPr>
            <a:r>
              <a:t>• Increase awareness of basic legal concepts.</a:t>
            </a:r>
          </a:p>
          <a:p>
            <a:pPr>
              <a:spcAft>
                <a:spcPts val="800"/>
              </a:spcAft>
              <a:defRPr sz="2000">
                <a:solidFill>
                  <a:srgbClr val="232D37"/>
                </a:solidFill>
              </a:defRPr>
            </a:pPr>
            <a:r>
              <a:t>• Build practical knowledge of AI application development.</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CONCLUSION</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EduGenie and LegalEase demonstrate how Generative AI can be applied to solve practical problems in education and legal awareness.</a:t>
            </a:r>
          </a:p>
          <a:p>
            <a:pPr>
              <a:spcAft>
                <a:spcPts val="800"/>
              </a:spcAft>
              <a:defRPr sz="2000">
                <a:solidFill>
                  <a:srgbClr val="232D37"/>
                </a:solidFill>
              </a:defRPr>
            </a:pPr>
          </a:p>
          <a:p>
            <a:pPr>
              <a:spcAft>
                <a:spcPts val="800"/>
              </a:spcAft>
              <a:defRPr sz="2000">
                <a:solidFill>
                  <a:srgbClr val="232D37"/>
                </a:solidFill>
              </a:defRPr>
            </a:pPr>
            <a:r>
              <a:t>EduGenie supports students by making learning more interactive and accessible, while LegalEase helps simplify general legal information. Together, the projects showcase the potential of AI to transform complex information into useful, understandable assistance.</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01168"/>
            <a:ext cx="10972800" cy="594360"/>
          </a:xfrm>
          <a:prstGeom prst="rect">
            <a:avLst/>
          </a:prstGeom>
          <a:noFill/>
        </p:spPr>
        <p:txBody>
          <a:bodyPr wrap="none">
            <a:spAutoFit/>
          </a:bodyPr>
          <a:lstStyle/>
          <a:p>
            <a:pPr>
              <a:defRPr sz="2700" b="1">
                <a:solidFill>
                  <a:srgbClr val="FFFFFF"/>
                </a:solidFill>
              </a:defRPr>
            </a:pPr>
            <a:r>
              <a:t>THANK YOU</a:t>
            </a:r>
          </a:p>
        </p:txBody>
      </p:sp>
      <p:sp>
        <p:nvSpPr>
          <p:cNvPr id="4" name="TextBox 3"/>
          <p:cNvSpPr txBox="1"/>
          <p:nvPr/>
        </p:nvSpPr>
        <p:spPr>
          <a:xfrm>
            <a:off x="731520" y="1325880"/>
            <a:ext cx="10744200" cy="4892040"/>
          </a:xfrm>
          <a:prstGeom prst="rect">
            <a:avLst/>
          </a:prstGeom>
          <a:noFill/>
        </p:spPr>
        <p:txBody>
          <a:bodyPr wrap="square">
            <a:spAutoFit/>
          </a:bodyPr>
          <a:lstStyle/>
          <a:p>
            <a:pPr>
              <a:spcAft>
                <a:spcPts val="800"/>
              </a:spcAft>
              <a:defRPr sz="2000">
                <a:solidFill>
                  <a:srgbClr val="232D37"/>
                </a:solidFill>
              </a:defRPr>
            </a:pPr>
            <a:r>
              <a:t>Thank You!</a:t>
            </a:r>
          </a:p>
          <a:p>
            <a:pPr>
              <a:spcAft>
                <a:spcPts val="800"/>
              </a:spcAft>
              <a:defRPr sz="2000">
                <a:solidFill>
                  <a:srgbClr val="232D37"/>
                </a:solidFill>
              </a:defRPr>
            </a:pPr>
          </a:p>
          <a:p>
            <a:pPr>
              <a:spcAft>
                <a:spcPts val="800"/>
              </a:spcAft>
              <a:defRPr sz="2000">
                <a:solidFill>
                  <a:srgbClr val="232D37"/>
                </a:solidFill>
              </a:defRPr>
            </a:pPr>
            <a:r>
              <a:t>Questions &amp; Discussion</a:t>
            </a:r>
          </a:p>
          <a:p>
            <a:pPr>
              <a:spcAft>
                <a:spcPts val="800"/>
              </a:spcAft>
              <a:defRPr sz="2000">
                <a:solidFill>
                  <a:srgbClr val="232D37"/>
                </a:solidFill>
              </a:defRPr>
            </a:pPr>
          </a:p>
          <a:p>
            <a:pPr>
              <a:spcAft>
                <a:spcPts val="800"/>
              </a:spcAft>
              <a:defRPr sz="2000">
                <a:solidFill>
                  <a:srgbClr val="232D37"/>
                </a:solidFill>
              </a:defRPr>
            </a:pPr>
            <a:r>
              <a:t>Naan Mudhalvan Project</a:t>
            </a:r>
          </a:p>
        </p:txBody>
      </p:sp>
      <p:sp>
        <p:nvSpPr>
          <p:cNvPr id="5" name="TextBox 4"/>
          <p:cNvSpPr txBox="1"/>
          <p:nvPr/>
        </p:nvSpPr>
        <p:spPr>
          <a:xfrm>
            <a:off x="10607040" y="6446520"/>
            <a:ext cx="914400" cy="228600"/>
          </a:xfrm>
          <a:prstGeom prst="rect">
            <a:avLst/>
          </a:prstGeom>
          <a:noFill/>
        </p:spPr>
        <p:txBody>
          <a:bodyPr wrap="none">
            <a:spAutoFit/>
          </a:bodyPr>
          <a:lstStyle/>
          <a:p>
            <a:pPr algn="r">
              <a:defRPr sz="1000">
                <a:solidFill>
                  <a:srgbClr val="646464"/>
                </a:solidFill>
              </a:defRPr>
            </a:pPr>
            <a: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